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3" r:id="rId9"/>
    <p:sldId id="264" r:id="rId10"/>
    <p:sldId id="267" r:id="rId11"/>
  </p:sldIdLst>
  <p:sldSz cx="18288000" cy="10287000"/>
  <p:notesSz cx="6858000" cy="9144000"/>
  <p:embeddedFontLst>
    <p:embeddedFont>
      <p:font typeface="Canva Sans" panose="020B0503030501040103" pitchFamily="34" charset="0"/>
      <p:regular r:id="rId12"/>
    </p:embeddedFont>
    <p:embeddedFont>
      <p:font typeface="Cooper BT Light" panose="0208050304030B020404" pitchFamily="18" charset="0"/>
      <p:regular r:id="rId13"/>
    </p:embeddedFont>
    <p:embeddedFont>
      <p:font typeface="TT Interphases" panose="02000503020000020004" pitchFamily="2" charset="0"/>
      <p:regular r:id="rId14"/>
    </p:embeddedFont>
    <p:embeddedFont>
      <p:font typeface="TT Interphases Bold" panose="02000803060000020004" pitchFamily="2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58" autoAdjust="0"/>
  </p:normalViewPr>
  <p:slideViewPr>
    <p:cSldViewPr>
      <p:cViewPr varScale="1">
        <p:scale>
          <a:sx n="69" d="100"/>
          <a:sy n="69" d="100"/>
        </p:scale>
        <p:origin x="256" y="5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813" y="18047"/>
            <a:ext cx="8267700" cy="10287000"/>
            <a:chOff x="0" y="0"/>
            <a:chExt cx="217750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831056"/>
            <a:ext cx="8324850" cy="5234518"/>
            <a:chOff x="0" y="219075"/>
            <a:chExt cx="11099800" cy="6979357"/>
          </a:xfrm>
        </p:grpSpPr>
        <p:sp>
          <p:nvSpPr>
            <p:cNvPr id="6" name="TextBox 6"/>
            <p:cNvSpPr txBox="1"/>
            <p:nvPr/>
          </p:nvSpPr>
          <p:spPr>
            <a:xfrm>
              <a:off x="0" y="6680272"/>
              <a:ext cx="11099800" cy="518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19"/>
                </a:lnSpc>
              </a:pPr>
              <a:r>
                <a:rPr lang="en-US" sz="2399" spc="-47" dirty="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Showcasing Key Features and Progress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19075"/>
              <a:ext cx="11099800" cy="5899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1499"/>
                </a:lnSpc>
              </a:pPr>
              <a:r>
                <a:rPr lang="en-US" sz="11499" spc="-229" dirty="0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Top5ive </a:t>
              </a:r>
              <a:r>
                <a:rPr lang="en-US" sz="2400" spc="-229" dirty="0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(Working Title) </a:t>
              </a:r>
              <a:r>
                <a:rPr lang="en-US" sz="11499" spc="-229" dirty="0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– Progress Demo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296400" y="8705809"/>
            <a:ext cx="8324850" cy="44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40"/>
              </a:lnSpc>
            </a:pPr>
            <a:r>
              <a:rPr lang="en-US" sz="2800" b="1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Daysha Roberts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949" r="-9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949" r="-9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671173" y="370235"/>
            <a:ext cx="9616827" cy="4100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97"/>
              </a:lnSpc>
            </a:pPr>
            <a:endParaRPr/>
          </a:p>
          <a:p>
            <a:pPr marL="0" lvl="0" indent="0" algn="l">
              <a:lnSpc>
                <a:spcPts val="7997"/>
              </a:lnSpc>
            </a:pPr>
            <a:r>
              <a:rPr lang="en-US" sz="7997" u="none" strike="noStrike" spc="-159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Problem Statement</a:t>
            </a:r>
          </a:p>
          <a:p>
            <a:pPr marL="0" lvl="0" indent="0" algn="l">
              <a:lnSpc>
                <a:spcPts val="7997"/>
              </a:lnSpc>
            </a:pPr>
            <a:endParaRPr lang="en-US" sz="7997" u="none" strike="noStrike" spc="-159">
              <a:solidFill>
                <a:srgbClr val="FFFFFF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  <a:p>
            <a:pPr marL="0" lvl="0" indent="0" algn="l">
              <a:lnSpc>
                <a:spcPts val="7997"/>
              </a:lnSpc>
            </a:pPr>
            <a:endParaRPr lang="en-US" sz="7997" u="none" strike="noStrike" spc="-159">
              <a:solidFill>
                <a:srgbClr val="FFFFFF"/>
              </a:solidFill>
              <a:latin typeface="Cooper BT Light"/>
              <a:ea typeface="Cooper BT Light"/>
              <a:cs typeface="Cooper BT Light"/>
              <a:sym typeface="Cooper BT Light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-52388" y="1028700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6" y="0"/>
                </a:lnTo>
                <a:lnTo>
                  <a:pt x="1438276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8467691" y="3878581"/>
            <a:ext cx="9616827" cy="3329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Problem: Sharing playlists is messy and discovery is weak.</a:t>
            </a:r>
          </a:p>
          <a:p>
            <a:pPr algn="ctr">
              <a:lnSpc>
                <a:spcPts val="3360"/>
              </a:lnSpc>
            </a:pPr>
            <a:endParaRPr lang="en-US" sz="24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Solution: Top5ive lets people create playlists and discover them through search, tags, and likes.</a:t>
            </a:r>
          </a:p>
          <a:p>
            <a:pPr algn="ctr">
              <a:lnSpc>
                <a:spcPts val="3360"/>
              </a:lnSpc>
            </a:pPr>
            <a:endParaRPr lang="en-US" sz="24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Target users: students, DJs, music lovers, creators, classmates testing the app.</a:t>
            </a:r>
          </a:p>
          <a:p>
            <a:pPr algn="ctr">
              <a:lnSpc>
                <a:spcPts val="3360"/>
              </a:lnSpc>
            </a:pPr>
            <a:endParaRPr lang="en-US" sz="24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34450" y="-766313"/>
            <a:ext cx="8324850" cy="9927457"/>
            <a:chOff x="-60585" y="171450"/>
            <a:chExt cx="11099800" cy="13236610"/>
          </a:xfrm>
        </p:grpSpPr>
        <p:sp>
          <p:nvSpPr>
            <p:cNvPr id="3" name="TextBox 3"/>
            <p:cNvSpPr txBox="1"/>
            <p:nvPr/>
          </p:nvSpPr>
          <p:spPr>
            <a:xfrm>
              <a:off x="-60585" y="6425600"/>
              <a:ext cx="11099800" cy="6982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42002" lvl="1" indent="-421001" algn="l">
                <a:lnSpc>
                  <a:spcPts val="5069"/>
                </a:lnSpc>
                <a:buFont typeface="Arial"/>
                <a:buChar char="•"/>
              </a:pPr>
              <a:r>
                <a:rPr lang="en-US" sz="3899" u="none" strike="noStrike" spc="-77" dirty="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Public/private playlists</a:t>
              </a:r>
            </a:p>
            <a:p>
              <a:pPr marL="842002" lvl="1" indent="-421001" algn="l">
                <a:lnSpc>
                  <a:spcPts val="5069"/>
                </a:lnSpc>
                <a:buFont typeface="Arial"/>
                <a:buChar char="•"/>
              </a:pPr>
              <a:r>
                <a:rPr lang="en-US" sz="3899" u="none" strike="noStrike" spc="-77" dirty="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Tags for discovery</a:t>
              </a:r>
            </a:p>
            <a:p>
              <a:pPr marL="842002" lvl="1" indent="-421001" algn="l">
                <a:lnSpc>
                  <a:spcPts val="5069"/>
                </a:lnSpc>
                <a:buFont typeface="Arial"/>
                <a:buChar char="•"/>
              </a:pPr>
              <a:r>
                <a:rPr lang="en-US" sz="3899" u="none" strike="noStrike" spc="-77" dirty="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Explore page (search + filter)</a:t>
              </a:r>
            </a:p>
            <a:p>
              <a:pPr marL="842002" lvl="1" indent="-421001" algn="l">
                <a:lnSpc>
                  <a:spcPts val="5069"/>
                </a:lnSpc>
                <a:buFont typeface="Arial"/>
                <a:buChar char="•"/>
              </a:pPr>
              <a:r>
                <a:rPr lang="en-US" sz="3899" u="none" strike="noStrike" spc="-77" dirty="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Sort by newest / most liked</a:t>
              </a:r>
            </a:p>
            <a:p>
              <a:pPr marL="842002" lvl="1" indent="-421001" algn="l">
                <a:lnSpc>
                  <a:spcPts val="5069"/>
                </a:lnSpc>
                <a:buFont typeface="Arial"/>
                <a:buChar char="•"/>
              </a:pPr>
              <a:r>
                <a:rPr lang="en-US" sz="3899" u="none" strike="noStrike" spc="-77" dirty="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Playlist detail page + shareable link</a:t>
              </a:r>
            </a:p>
            <a:p>
              <a:pPr marL="842002" lvl="1" indent="-421001" algn="l">
                <a:lnSpc>
                  <a:spcPts val="5069"/>
                </a:lnSpc>
                <a:buFont typeface="Arial"/>
                <a:buChar char="•"/>
              </a:pPr>
              <a:r>
                <a:rPr lang="en-US" sz="3899" u="none" strike="noStrike" spc="-77" dirty="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Likes as social proof</a:t>
              </a:r>
            </a:p>
            <a:p>
              <a:pPr marL="842002" lvl="1" indent="-421001" algn="l">
                <a:lnSpc>
                  <a:spcPts val="5069"/>
                </a:lnSpc>
                <a:buFont typeface="Arial"/>
                <a:buChar char="•"/>
              </a:pPr>
              <a:r>
                <a:rPr lang="en-US" sz="3899" u="none" strike="noStrike" spc="-77" dirty="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Creator profiles (planned)</a:t>
              </a:r>
            </a:p>
            <a:p>
              <a:pPr marL="0" lvl="0" indent="0" algn="l">
                <a:lnSpc>
                  <a:spcPts val="3120"/>
                </a:lnSpc>
              </a:pPr>
              <a:endParaRPr lang="en-US" sz="3899" u="none" strike="noStrike" spc="-77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  <a:p>
              <a:pPr marL="0" lvl="0" indent="0" algn="l">
                <a:lnSpc>
                  <a:spcPts val="3120"/>
                </a:lnSpc>
              </a:pPr>
              <a:endParaRPr lang="en-US" sz="3899" u="none" strike="noStrike" spc="-77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1450"/>
              <a:ext cx="10701622" cy="78772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159"/>
                </a:lnSpc>
              </a:pPr>
              <a:endParaRPr/>
            </a:p>
            <a:p>
              <a:pPr marL="0" lvl="0" indent="0" algn="l">
                <a:lnSpc>
                  <a:spcPts val="9159"/>
                </a:lnSpc>
                <a:spcBef>
                  <a:spcPct val="0"/>
                </a:spcBef>
              </a:pPr>
              <a:r>
                <a:rPr lang="en-US" sz="9159" spc="-183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Pro</a:t>
              </a:r>
              <a:r>
                <a:rPr lang="en-US" sz="9159" u="none" strike="noStrike" spc="-183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posed Features</a:t>
              </a:r>
            </a:p>
            <a:p>
              <a:pPr marL="0" lvl="0" indent="0" algn="l">
                <a:lnSpc>
                  <a:spcPts val="9159"/>
                </a:lnSpc>
                <a:spcBef>
                  <a:spcPct val="0"/>
                </a:spcBef>
              </a:pPr>
              <a:endParaRPr lang="en-US" sz="9159" u="none" strike="noStrike" spc="-183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endParaRPr>
            </a:p>
            <a:p>
              <a:pPr marL="0" lvl="0" indent="0" algn="l">
                <a:lnSpc>
                  <a:spcPts val="9159"/>
                </a:lnSpc>
                <a:spcBef>
                  <a:spcPct val="0"/>
                </a:spcBef>
              </a:pPr>
              <a:endParaRPr lang="en-US" sz="9159" u="none" strike="noStrike" spc="-183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949" r="-9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 rot="-10800000">
            <a:off x="6115050" y="8971632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53111" y="-313323"/>
            <a:ext cx="8324850" cy="9942639"/>
            <a:chOff x="-254519" y="161925"/>
            <a:chExt cx="11099800" cy="13256851"/>
          </a:xfrm>
        </p:grpSpPr>
        <p:sp>
          <p:nvSpPr>
            <p:cNvPr id="3" name="TextBox 3"/>
            <p:cNvSpPr txBox="1"/>
            <p:nvPr/>
          </p:nvSpPr>
          <p:spPr>
            <a:xfrm>
              <a:off x="-254519" y="4439225"/>
              <a:ext cx="11099800" cy="89795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9"/>
                </a:lnSpc>
              </a:pPr>
              <a:endParaRPr dirty="0"/>
            </a:p>
            <a:p>
              <a:pPr marL="734055" lvl="1" indent="-367027" algn="l">
                <a:lnSpc>
                  <a:spcPts val="4419"/>
                </a:lnSpc>
                <a:buFont typeface="Arial"/>
                <a:buChar char="•"/>
              </a:pPr>
              <a:r>
                <a:rPr lang="en-US" sz="3399" spc="-67" dirty="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Switc</a:t>
              </a:r>
              <a:r>
                <a:rPr lang="en-US" sz="3399" u="none" strike="noStrike" spc="-67" dirty="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hed from DJ productivity app → playlist sharing social app</a:t>
              </a:r>
            </a:p>
            <a:p>
              <a:pPr marL="734055" lvl="1" indent="-367027" algn="l">
                <a:lnSpc>
                  <a:spcPts val="4419"/>
                </a:lnSpc>
                <a:buFont typeface="Arial"/>
                <a:buChar char="•"/>
              </a:pPr>
              <a:r>
                <a:rPr lang="en-US" sz="3399" u="none" strike="noStrike" spc="-67" dirty="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Branding concept update: exploring “The Queue” luxury club vibe (pending instructor approval).</a:t>
              </a:r>
            </a:p>
            <a:p>
              <a:pPr marL="734055" lvl="1" indent="-367027" algn="l">
                <a:lnSpc>
                  <a:spcPts val="4419"/>
                </a:lnSpc>
                <a:buFont typeface="Arial"/>
                <a:buChar char="•"/>
              </a:pPr>
              <a:r>
                <a:rPr lang="en-US" sz="3399" u="none" strike="noStrike" spc="-67" dirty="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Prioritized UI + discovery flow first for April testing</a:t>
              </a:r>
            </a:p>
            <a:p>
              <a:pPr marL="734055" lvl="1" indent="-367027" algn="l">
                <a:lnSpc>
                  <a:spcPts val="4419"/>
                </a:lnSpc>
                <a:buFont typeface="Arial"/>
                <a:buChar char="•"/>
              </a:pPr>
              <a:r>
                <a:rPr lang="en-US" sz="3399" u="none" strike="noStrike" spc="-67" dirty="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Backend/auth stabilization scheduled after UI demo is solid</a:t>
              </a:r>
            </a:p>
            <a:p>
              <a:pPr marL="0" lvl="0" indent="0" algn="l">
                <a:lnSpc>
                  <a:spcPts val="4419"/>
                </a:lnSpc>
              </a:pPr>
              <a:endParaRPr lang="en-US" sz="3399" u="none" strike="noStrike" spc="-67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  <a:p>
              <a:pPr marL="0" lvl="0" indent="0" algn="l">
                <a:lnSpc>
                  <a:spcPts val="4419"/>
                </a:lnSpc>
              </a:pPr>
              <a:endParaRPr lang="en-US" sz="3399" u="none" strike="noStrike" spc="-67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7930" y="161925"/>
              <a:ext cx="10043939" cy="5932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596"/>
                </a:lnSpc>
              </a:pPr>
              <a:endParaRPr/>
            </a:p>
            <a:p>
              <a:pPr marL="0" lvl="0" indent="0" algn="l">
                <a:lnSpc>
                  <a:spcPts val="8596"/>
                </a:lnSpc>
                <a:spcBef>
                  <a:spcPct val="0"/>
                </a:spcBef>
              </a:pPr>
              <a:r>
                <a:rPr lang="en-US" sz="8596" spc="-171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M</a:t>
              </a:r>
              <a:r>
                <a:rPr lang="en-US" sz="8596" u="none" strike="noStrike" spc="-171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odifications</a:t>
              </a:r>
            </a:p>
            <a:p>
              <a:pPr marL="0" lvl="0" indent="0" algn="l">
                <a:lnSpc>
                  <a:spcPts val="8596"/>
                </a:lnSpc>
                <a:spcBef>
                  <a:spcPct val="0"/>
                </a:spcBef>
              </a:pPr>
              <a:endParaRPr lang="en-US" sz="8596" u="none" strike="noStrike" spc="-171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endParaRPr>
            </a:p>
            <a:p>
              <a:pPr marL="0" lvl="0" indent="0" algn="l">
                <a:lnSpc>
                  <a:spcPts val="8596"/>
                </a:lnSpc>
                <a:spcBef>
                  <a:spcPct val="0"/>
                </a:spcBef>
              </a:pPr>
              <a:endParaRPr lang="en-US" sz="8596" u="none" strike="noStrike" spc="-171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666750"/>
            <a:ext cx="6886575" cy="8953500"/>
            <a:chOff x="0" y="0"/>
            <a:chExt cx="812800" cy="10567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1056752"/>
            </a:xfrm>
            <a:custGeom>
              <a:avLst/>
              <a:gdLst/>
              <a:ahLst/>
              <a:cxnLst/>
              <a:rect l="l" t="t" r="r" b="b"/>
              <a:pathLst>
                <a:path w="812800" h="1056752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949" r="-9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 rot="-10800000">
            <a:off x="6115050" y="8971632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7625" cy="10287000"/>
            <a:chOff x="0" y="0"/>
            <a:chExt cx="1254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2709333"/>
            </a:xfrm>
            <a:custGeom>
              <a:avLst/>
              <a:gdLst/>
              <a:ahLst/>
              <a:cxnLst/>
              <a:rect l="l" t="t" r="r" b="b"/>
              <a:pathLst>
                <a:path w="12543" h="2709333">
                  <a:moveTo>
                    <a:pt x="0" y="0"/>
                  </a:moveTo>
                  <a:lnTo>
                    <a:pt x="12543" y="0"/>
                  </a:lnTo>
                  <a:lnTo>
                    <a:pt x="125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2543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pic>
        <p:nvPicPr>
          <p:cNvPr id="7" name="Picture 6" descr="A screen shot of a chart&#10;&#10;AI-generated content may be incorrect.">
            <a:extLst>
              <a:ext uri="{FF2B5EF4-FFF2-40B4-BE49-F238E27FC236}">
                <a16:creationId xmlns:a16="http://schemas.microsoft.com/office/drawing/2014/main" id="{F7745FC7-3A45-CEA9-E929-C907474D0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4300" y="0"/>
            <a:ext cx="185166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7625" cy="10287000"/>
            <a:chOff x="0" y="0"/>
            <a:chExt cx="1254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2709333"/>
            </a:xfrm>
            <a:custGeom>
              <a:avLst/>
              <a:gdLst/>
              <a:ahLst/>
              <a:cxnLst/>
              <a:rect l="l" t="t" r="r" b="b"/>
              <a:pathLst>
                <a:path w="12543" h="2709333">
                  <a:moveTo>
                    <a:pt x="0" y="0"/>
                  </a:moveTo>
                  <a:lnTo>
                    <a:pt x="12543" y="0"/>
                  </a:lnTo>
                  <a:lnTo>
                    <a:pt x="1254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2543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183899" y="-872308"/>
            <a:ext cx="10461417" cy="11159308"/>
            <a:chOff x="0" y="0"/>
            <a:chExt cx="13948557" cy="14879078"/>
          </a:xfrm>
        </p:grpSpPr>
        <p:sp>
          <p:nvSpPr>
            <p:cNvPr id="6" name="TextBox 6"/>
            <p:cNvSpPr txBox="1"/>
            <p:nvPr/>
          </p:nvSpPr>
          <p:spPr>
            <a:xfrm>
              <a:off x="0" y="4537044"/>
              <a:ext cx="11099800" cy="103420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9"/>
                </a:lnSpc>
              </a:pPr>
              <a:r>
                <a:rPr lang="en-US" sz="3399" spc="-67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Completed:</a:t>
              </a:r>
            </a:p>
            <a:p>
              <a:pPr algn="l">
                <a:lnSpc>
                  <a:spcPts val="4419"/>
                </a:lnSpc>
              </a:pPr>
              <a:endParaRPr lang="en-US" sz="3399" spc="-6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  <a:p>
              <a:pPr marL="734055" lvl="1" indent="-367027" algn="l">
                <a:lnSpc>
                  <a:spcPts val="4419"/>
                </a:lnSpc>
                <a:buFont typeface="Arial"/>
                <a:buChar char="•"/>
              </a:pPr>
              <a:r>
                <a:rPr lang="en-US" sz="3399" spc="-67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Explore UI</a:t>
              </a:r>
            </a:p>
            <a:p>
              <a:pPr marL="734055" lvl="1" indent="-367027" algn="l">
                <a:lnSpc>
                  <a:spcPts val="4419"/>
                </a:lnSpc>
                <a:buFont typeface="Arial"/>
                <a:buChar char="•"/>
              </a:pPr>
              <a:r>
                <a:rPr lang="en-US" sz="3399" spc="-67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Search</a:t>
              </a:r>
            </a:p>
            <a:p>
              <a:pPr marL="734055" lvl="1" indent="-367027" algn="l">
                <a:lnSpc>
                  <a:spcPts val="4419"/>
                </a:lnSpc>
                <a:buFont typeface="Arial"/>
                <a:buChar char="•"/>
              </a:pPr>
              <a:r>
                <a:rPr lang="en-US" sz="3399" spc="-67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Tag filtering</a:t>
              </a:r>
            </a:p>
            <a:p>
              <a:pPr marL="734055" lvl="1" indent="-367027" algn="l">
                <a:lnSpc>
                  <a:spcPts val="4419"/>
                </a:lnSpc>
                <a:buFont typeface="Arial"/>
                <a:buChar char="•"/>
              </a:pPr>
              <a:r>
                <a:rPr lang="en-US" sz="3399" spc="-67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Sorting</a:t>
              </a:r>
            </a:p>
            <a:p>
              <a:pPr marL="734055" lvl="1" indent="-367027" algn="l">
                <a:lnSpc>
                  <a:spcPts val="4419"/>
                </a:lnSpc>
                <a:buFont typeface="Arial"/>
                <a:buChar char="•"/>
              </a:pPr>
              <a:r>
                <a:rPr lang="en-US" sz="3399" spc="-67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Playlist cards + detail navigation</a:t>
              </a:r>
            </a:p>
            <a:p>
              <a:pPr marL="734055" lvl="1" indent="-367027" algn="l">
                <a:lnSpc>
                  <a:spcPts val="4419"/>
                </a:lnSpc>
                <a:buFont typeface="Arial"/>
                <a:buChar char="•"/>
              </a:pPr>
              <a:r>
                <a:rPr lang="en-US" sz="3399" spc="-67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In progress:</a:t>
              </a:r>
            </a:p>
            <a:p>
              <a:pPr marL="734055" lvl="1" indent="-367027" algn="l">
                <a:lnSpc>
                  <a:spcPts val="4419"/>
                </a:lnSpc>
                <a:buFont typeface="Arial"/>
                <a:buChar char="•"/>
              </a:pPr>
              <a:r>
                <a:rPr lang="en-US" sz="3399" spc="-67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Backend integration (DB/auth)</a:t>
              </a:r>
            </a:p>
            <a:p>
              <a:pPr marL="734055" lvl="1" indent="-367027" algn="l">
                <a:lnSpc>
                  <a:spcPts val="4419"/>
                </a:lnSpc>
                <a:buFont typeface="Arial"/>
                <a:buChar char="•"/>
              </a:pPr>
              <a:r>
                <a:rPr lang="en-US" sz="3399" spc="-67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Next:</a:t>
              </a:r>
            </a:p>
            <a:p>
              <a:pPr marL="734055" lvl="1" indent="-367027" algn="l">
                <a:lnSpc>
                  <a:spcPts val="4419"/>
                </a:lnSpc>
                <a:buFont typeface="Arial"/>
                <a:buChar char="•"/>
              </a:pPr>
              <a:r>
                <a:rPr lang="en-US" sz="3399" spc="-67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Tracks feature, delete playlist, liked playlists tab</a:t>
              </a:r>
            </a:p>
            <a:p>
              <a:pPr algn="l">
                <a:lnSpc>
                  <a:spcPts val="4419"/>
                </a:lnSpc>
              </a:pPr>
              <a:endParaRPr lang="en-US" sz="3399" spc="-6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  <a:p>
              <a:pPr marL="0" lvl="0" indent="0" algn="l">
                <a:lnSpc>
                  <a:spcPts val="4679"/>
                </a:lnSpc>
              </a:pPr>
              <a:endParaRPr lang="en-US" sz="3399" spc="-6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71450"/>
              <a:ext cx="13948557" cy="65637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500"/>
                </a:lnSpc>
              </a:pPr>
              <a:endParaRPr/>
            </a:p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spc="-190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Pro</a:t>
              </a:r>
              <a:r>
                <a:rPr lang="en-US" sz="9500" u="none" strike="noStrike" spc="-190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gress Tracking</a:t>
              </a:r>
            </a:p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endParaRPr lang="en-US" sz="9500" u="none" strike="noStrike" spc="-19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endParaRPr>
            </a:p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endParaRPr lang="en-US" sz="9500" u="none" strike="noStrike" spc="-19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F57127-3050-5FFA-79FB-E9FDD7659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098A399-161D-53E9-E88F-AE63515632B4}"/>
              </a:ext>
            </a:extLst>
          </p:cNvPr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993CF00-A149-358F-986A-4C874A0FB3FD}"/>
                </a:ext>
              </a:extLst>
            </p:cNvPr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C1FC44F-B45B-4922-AB85-A477E47E2D7F}"/>
                </a:ext>
              </a:extLst>
            </p:cNvPr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FF62079-C9E3-8857-D1F0-B4D16629C825}"/>
              </a:ext>
            </a:extLst>
          </p:cNvPr>
          <p:cNvSpPr/>
          <p:nvPr/>
        </p:nvSpPr>
        <p:spPr>
          <a:xfrm rot="-10800000">
            <a:off x="6115050" y="8971632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E44930D7-13A3-E412-188B-537D684CB987}"/>
              </a:ext>
            </a:extLst>
          </p:cNvPr>
          <p:cNvGrpSpPr/>
          <p:nvPr/>
        </p:nvGrpSpPr>
        <p:grpSpPr>
          <a:xfrm>
            <a:off x="152400" y="-904159"/>
            <a:ext cx="18192752" cy="4873129"/>
            <a:chOff x="-12225913" y="-1205546"/>
            <a:chExt cx="24257003" cy="6497506"/>
          </a:xfrm>
        </p:grpSpPr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B96F8AA-958C-FE33-A442-9E8241610896}"/>
                </a:ext>
              </a:extLst>
            </p:cNvPr>
            <p:cNvSpPr txBox="1"/>
            <p:nvPr/>
          </p:nvSpPr>
          <p:spPr>
            <a:xfrm>
              <a:off x="931290" y="355599"/>
              <a:ext cx="11099800" cy="24141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279"/>
                </a:lnSpc>
              </a:pPr>
              <a:r>
                <a:rPr lang="en-US" sz="2800" spc="-111" dirty="0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Explore page with playlist cards and tags</a:t>
              </a:r>
            </a:p>
            <a:p>
              <a:pPr marL="0" lvl="0" indent="0" algn="l">
                <a:lnSpc>
                  <a:spcPts val="7279"/>
                </a:lnSpc>
              </a:pPr>
              <a:endParaRPr lang="en-US" sz="5599" spc="-111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DFBEC3F-A26E-0E16-82EA-955FAB9A25E2}"/>
                </a:ext>
              </a:extLst>
            </p:cNvPr>
            <p:cNvSpPr txBox="1"/>
            <p:nvPr/>
          </p:nvSpPr>
          <p:spPr>
            <a:xfrm>
              <a:off x="-12225913" y="-1205546"/>
              <a:ext cx="23528913" cy="64975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500"/>
                </a:lnSpc>
              </a:pPr>
              <a:endParaRPr dirty="0"/>
            </a:p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 dirty="0">
                  <a:latin typeface="Cooper BT Light"/>
                  <a:ea typeface="Cooper BT Light"/>
                  <a:cs typeface="Cooper BT Light"/>
                  <a:sym typeface="Cooper BT Light"/>
                </a:rPr>
                <a:t>Explore Page</a:t>
              </a:r>
            </a:p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endParaRPr lang="en-US" sz="9500" u="none" strike="noStrike" spc="-190" dirty="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endParaRPr>
            </a:p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endParaRPr lang="en-US" sz="9500" u="none" strike="noStrike" spc="-190" dirty="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endParaRPr>
            </a:p>
          </p:txBody>
        </p:sp>
      </p:grp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C75DCD-B349-7517-EE15-7D8E5931DC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022" r="541"/>
          <a:stretch>
            <a:fillRect/>
          </a:stretch>
        </p:blipFill>
        <p:spPr>
          <a:xfrm>
            <a:off x="-304800" y="1485901"/>
            <a:ext cx="18592800" cy="9035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912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6115050" y="8971632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3886200" y="-1513633"/>
            <a:ext cx="14425127" cy="5132174"/>
            <a:chOff x="-7247513" y="-2018178"/>
            <a:chExt cx="19233503" cy="6842900"/>
          </a:xfrm>
        </p:grpSpPr>
        <p:sp>
          <p:nvSpPr>
            <p:cNvPr id="8" name="TextBox 8"/>
            <p:cNvSpPr txBox="1"/>
            <p:nvPr/>
          </p:nvSpPr>
          <p:spPr>
            <a:xfrm>
              <a:off x="-873150" y="1403272"/>
              <a:ext cx="12477751" cy="288951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</a:rPr>
                <a:t>Search narrows results, Tags stack to filter, Filters update via URL params</a:t>
              </a:r>
            </a:p>
            <a:p>
              <a:endParaRPr lang="en-US" sz="2800" dirty="0">
                <a:solidFill>
                  <a:schemeClr val="bg1"/>
                </a:solidFill>
              </a:endParaRPr>
            </a:p>
            <a:p>
              <a:pPr marL="0" lvl="0" indent="0" algn="l">
                <a:lnSpc>
                  <a:spcPts val="7279"/>
                </a:lnSpc>
              </a:pPr>
              <a:endParaRPr lang="en-US" sz="5599" spc="-111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-7247513" y="-2018178"/>
              <a:ext cx="19233503" cy="684290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500"/>
                </a:lnSpc>
              </a:pPr>
              <a:endParaRPr dirty="0"/>
            </a:p>
            <a:p>
              <a:r>
                <a:rPr lang="en-US" sz="9600" b="1" dirty="0"/>
                <a:t>Search + </a:t>
              </a:r>
              <a:r>
                <a:rPr lang="en-US" sz="9600" b="1" dirty="0">
                  <a:solidFill>
                    <a:schemeClr val="bg1"/>
                  </a:solidFill>
                </a:rPr>
                <a:t>Tag Filtering</a:t>
              </a:r>
            </a:p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endParaRPr lang="en-US" sz="9500" u="none" strike="noStrike" spc="-190" dirty="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endParaRPr>
            </a:p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endParaRPr lang="en-US" sz="9500" u="none" strike="noStrike" spc="-190" dirty="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endParaRPr>
            </a:p>
          </p:txBody>
        </p:sp>
      </p:grp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78028C-8182-B38E-3EC2-5B4D536B18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2" r="-1041" b="16114"/>
          <a:stretch>
            <a:fillRect/>
          </a:stretch>
        </p:blipFill>
        <p:spPr>
          <a:xfrm>
            <a:off x="0" y="1949213"/>
            <a:ext cx="18349913" cy="83453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6545"/>
            <a:ext cx="8267700" cy="10287000"/>
            <a:chOff x="0" y="0"/>
            <a:chExt cx="217750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6115050" y="8971632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9144000" y="-1406137"/>
            <a:ext cx="8324850" cy="10810527"/>
            <a:chOff x="0" y="171449"/>
            <a:chExt cx="11099800" cy="14414036"/>
          </a:xfrm>
        </p:grpSpPr>
        <p:sp>
          <p:nvSpPr>
            <p:cNvPr id="8" name="TextBox 8"/>
            <p:cNvSpPr txBox="1"/>
            <p:nvPr/>
          </p:nvSpPr>
          <p:spPr>
            <a:xfrm>
              <a:off x="0" y="6246280"/>
              <a:ext cx="11099800" cy="8339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US" sz="4400" dirty="0">
                  <a:solidFill>
                    <a:schemeClr val="bg1"/>
                  </a:solidFill>
                </a:rPr>
                <a:t>Email + password sign in (</a:t>
              </a:r>
              <a:r>
                <a:rPr lang="en-US" sz="4400" dirty="0" err="1">
                  <a:solidFill>
                    <a:schemeClr val="bg1"/>
                  </a:solidFill>
                </a:rPr>
                <a:t>Supabase</a:t>
              </a:r>
              <a:r>
                <a:rPr lang="en-US" sz="4400" dirty="0">
                  <a:solidFill>
                    <a:schemeClr val="bg1"/>
                  </a:solidFill>
                </a:rPr>
                <a:t> Auth)</a:t>
              </a:r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US" sz="4400" dirty="0">
                  <a:solidFill>
                    <a:schemeClr val="bg1"/>
                  </a:solidFill>
                </a:rPr>
                <a:t>Create account link for new users</a:t>
              </a:r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US" sz="4400" dirty="0">
                  <a:solidFill>
                    <a:schemeClr val="bg1"/>
                  </a:solidFill>
                </a:rPr>
                <a:t>Redirects back to the page you were trying to access (“next” routing)</a:t>
              </a:r>
            </a:p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US" sz="4400" dirty="0">
                  <a:solidFill>
                    <a:schemeClr val="bg1"/>
                  </a:solidFill>
                </a:rPr>
                <a:t>Navbar updates after login (shows user name + profile menu)</a:t>
              </a:r>
            </a:p>
            <a:p>
              <a:pPr marL="571500" lvl="0" indent="-571500" algn="l">
                <a:lnSpc>
                  <a:spcPts val="7279"/>
                </a:lnSpc>
                <a:buFont typeface="Arial" panose="020B0604020202020204" pitchFamily="34" charset="0"/>
                <a:buChar char="•"/>
              </a:pPr>
              <a:endParaRPr lang="en-US" sz="4400" spc="-111" dirty="0">
                <a:solidFill>
                  <a:schemeClr val="bg1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71449"/>
              <a:ext cx="11099800" cy="81218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500"/>
                </a:lnSpc>
              </a:pPr>
              <a:endParaRPr dirty="0"/>
            </a:p>
            <a:p>
              <a:pPr algn="l">
                <a:lnSpc>
                  <a:spcPts val="9500"/>
                </a:lnSpc>
              </a:pPr>
              <a:endParaRPr dirty="0"/>
            </a:p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 dirty="0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Log in screen </a:t>
              </a:r>
            </a:p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endParaRPr lang="en-US" sz="9500" u="none" strike="noStrike" spc="-190" dirty="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endParaRPr>
            </a:p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endParaRPr lang="en-US" sz="9500" u="none" strike="noStrike" spc="-190" dirty="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endParaRPr>
            </a:p>
          </p:txBody>
        </p:sp>
      </p:grpSp>
      <p:pic>
        <p:nvPicPr>
          <p:cNvPr id="11" name="Picture 10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AC5A57AE-D5ED-0999-ADD3-B99EE7B7F1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496"/>
            <a:ext cx="7772400" cy="95128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93878D-135D-A2C7-D6C9-EFF5E5798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A93A1B4-F5A0-64F9-F770-F69C3174EA10}"/>
              </a:ext>
            </a:extLst>
          </p:cNvPr>
          <p:cNvGrpSpPr/>
          <p:nvPr/>
        </p:nvGrpSpPr>
        <p:grpSpPr>
          <a:xfrm>
            <a:off x="0" y="0"/>
            <a:ext cx="8267700" cy="10287000"/>
            <a:chOff x="0" y="0"/>
            <a:chExt cx="2177501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300738E-AC95-8DF0-5461-0271E8182282}"/>
                </a:ext>
              </a:extLst>
            </p:cNvPr>
            <p:cNvSpPr/>
            <p:nvPr/>
          </p:nvSpPr>
          <p:spPr>
            <a:xfrm>
              <a:off x="0" y="0"/>
              <a:ext cx="2177501" cy="2709333"/>
            </a:xfrm>
            <a:custGeom>
              <a:avLst/>
              <a:gdLst/>
              <a:ahLst/>
              <a:cxnLst/>
              <a:rect l="l" t="t" r="r" b="b"/>
              <a:pathLst>
                <a:path w="2177501" h="2709333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9583688-6ACD-17B0-1CD6-EEB429AC954F}"/>
                </a:ext>
              </a:extLst>
            </p:cNvPr>
            <p:cNvSpPr txBox="1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8AA36EE0-6C3A-B686-6716-104C791A81BF}"/>
              </a:ext>
            </a:extLst>
          </p:cNvPr>
          <p:cNvSpPr/>
          <p:nvPr/>
        </p:nvSpPr>
        <p:spPr>
          <a:xfrm rot="-10800000">
            <a:off x="6115050" y="8971632"/>
            <a:ext cx="1438275" cy="1315368"/>
          </a:xfrm>
          <a:custGeom>
            <a:avLst/>
            <a:gdLst/>
            <a:ahLst/>
            <a:cxnLst/>
            <a:rect l="l" t="t" r="r" b="b"/>
            <a:pathLst>
              <a:path w="1438275" h="1315368">
                <a:moveTo>
                  <a:pt x="0" y="0"/>
                </a:moveTo>
                <a:lnTo>
                  <a:pt x="1438275" y="0"/>
                </a:lnTo>
                <a:lnTo>
                  <a:pt x="1438275" y="1315368"/>
                </a:lnTo>
                <a:lnTo>
                  <a:pt x="0" y="1315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574E471F-5E92-516B-0F70-FC7F59E0DCC6}"/>
              </a:ext>
            </a:extLst>
          </p:cNvPr>
          <p:cNvGrpSpPr/>
          <p:nvPr/>
        </p:nvGrpSpPr>
        <p:grpSpPr>
          <a:xfrm>
            <a:off x="9144000" y="-1409771"/>
            <a:ext cx="8324850" cy="6763596"/>
            <a:chOff x="0" y="171449"/>
            <a:chExt cx="11099800" cy="9018128"/>
          </a:xfrm>
        </p:grpSpPr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4AF8F8E-FA46-E92D-B7CB-409FAEEB943A}"/>
                </a:ext>
              </a:extLst>
            </p:cNvPr>
            <p:cNvSpPr txBox="1"/>
            <p:nvPr/>
          </p:nvSpPr>
          <p:spPr>
            <a:xfrm>
              <a:off x="0" y="8023617"/>
              <a:ext cx="11099800" cy="11659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279"/>
                </a:lnSpc>
              </a:pPr>
              <a:endParaRPr lang="en-US" sz="5599" spc="-111" dirty="0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69DCC9D-BDD9-B8AA-FF88-85B2DACFFB41}"/>
                </a:ext>
              </a:extLst>
            </p:cNvPr>
            <p:cNvSpPr txBox="1"/>
            <p:nvPr/>
          </p:nvSpPr>
          <p:spPr>
            <a:xfrm>
              <a:off x="0" y="171449"/>
              <a:ext cx="11099800" cy="81218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500"/>
                </a:lnSpc>
              </a:pPr>
              <a:endParaRPr dirty="0"/>
            </a:p>
            <a:p>
              <a:pPr algn="l">
                <a:lnSpc>
                  <a:spcPts val="9500"/>
                </a:lnSpc>
              </a:pPr>
              <a:endParaRPr dirty="0"/>
            </a:p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r>
                <a:rPr lang="en-US" sz="9500" u="none" strike="noStrike" spc="-190" dirty="0">
                  <a:solidFill>
                    <a:srgbClr val="FFFFFF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Landing Page</a:t>
              </a:r>
            </a:p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endParaRPr lang="en-US" sz="9500" u="none" strike="noStrike" spc="-190" dirty="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endParaRPr>
            </a:p>
            <a:p>
              <a:pPr marL="0" lvl="0" indent="0" algn="l">
                <a:lnSpc>
                  <a:spcPts val="9500"/>
                </a:lnSpc>
                <a:spcBef>
                  <a:spcPct val="0"/>
                </a:spcBef>
              </a:pPr>
              <a:endParaRPr lang="en-US" sz="9500" u="none" strike="noStrike" spc="-190" dirty="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endParaRPr>
            </a:p>
          </p:txBody>
        </p:sp>
      </p:grp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7495C4-5BB2-FBF4-6F3E-6ABE85876E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65" y="276397"/>
            <a:ext cx="8267700" cy="101190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3F68A6D-EDB4-5F56-3FE8-15870ED86102}"/>
              </a:ext>
            </a:extLst>
          </p:cNvPr>
          <p:cNvSpPr txBox="1"/>
          <p:nvPr/>
        </p:nvSpPr>
        <p:spPr>
          <a:xfrm>
            <a:off x="8720081" y="2896731"/>
            <a:ext cx="9172687" cy="4280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Premium “luxury club” hero for The Queue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Quick actions: Explore + Create playlist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“Tonight’s Picks” and “Hot right now” sections powered by demo playlists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Designed to make discovery feel curated, not random</a:t>
            </a:r>
          </a:p>
        </p:txBody>
      </p:sp>
    </p:spTree>
    <p:extLst>
      <p:ext uri="{BB962C8B-B14F-4D97-AF65-F5344CB8AC3E}">
        <p14:creationId xmlns:p14="http://schemas.microsoft.com/office/powerpoint/2010/main" val="673649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297</Words>
  <Application>Microsoft Macintosh PowerPoint</Application>
  <PresentationFormat>Custom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TT Interphases</vt:lpstr>
      <vt:lpstr>TT Interphases Bold</vt:lpstr>
      <vt:lpstr>Cooper BT Light</vt:lpstr>
      <vt:lpstr>Arial</vt:lpstr>
      <vt:lpstr>Calibri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Top5ive – Progress Demo</dc:title>
  <dc:description>Presentation - Top5ive – Progress Demo</dc:description>
  <cp:lastModifiedBy>Roberts, Daysha C.</cp:lastModifiedBy>
  <cp:revision>2</cp:revision>
  <dcterms:created xsi:type="dcterms:W3CDTF">2006-08-16T00:00:00Z</dcterms:created>
  <dcterms:modified xsi:type="dcterms:W3CDTF">2026-03-06T11:02:56Z</dcterms:modified>
  <dc:identifier>DAHC3QmPkeI</dc:identifier>
</cp:coreProperties>
</file>